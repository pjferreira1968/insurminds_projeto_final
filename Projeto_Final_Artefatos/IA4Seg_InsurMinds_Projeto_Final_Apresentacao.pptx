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c0380d5fd478b" /><Relationship Type="http://schemas.openxmlformats.org/officeDocument/2006/relationships/extended-properties" Target="/docProps/app.xml" Id="Rc4e00390f1c041e5" /><Relationship Type="http://schemas.openxmlformats.org/officeDocument/2006/relationships/officeDocument" Target="/ppt/presentation.xml" Id="R457ec47a8915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8c136ccc564098"/>
  </p:sldMasterIdLst>
  <p:notesMasterIdLst>
    <p:notesMasterId xmlns:r="http://schemas.openxmlformats.org/officeDocument/2006/relationships" r:id="Rf32201fcdde649df"/>
  </p:notesMasterIdLst>
  <p:sldIdLst>
    <p:sldId xmlns:r="http://schemas.openxmlformats.org/officeDocument/2006/relationships" id="256" r:id="R541ea0dd39ee4ac4"/>
    <p:sldId xmlns:r="http://schemas.openxmlformats.org/officeDocument/2006/relationships" id="257" r:id="R93ea807366bf453f"/>
    <p:sldId xmlns:r="http://schemas.openxmlformats.org/officeDocument/2006/relationships" id="258" r:id="R637c31bec01d40f0"/>
    <p:sldId xmlns:r="http://schemas.openxmlformats.org/officeDocument/2006/relationships" id="259" r:id="R696880750ed7407b"/>
    <p:sldId xmlns:r="http://schemas.openxmlformats.org/officeDocument/2006/relationships" id="260" r:id="Ref60d2e0037442f0"/>
    <p:sldId xmlns:r="http://schemas.openxmlformats.org/officeDocument/2006/relationships" id="261" r:id="Rc500c85add214f9d"/>
    <p:sldId xmlns:r="http://schemas.openxmlformats.org/officeDocument/2006/relationships" id="262" r:id="R1b2338ee2bf243ec"/>
    <p:sldId xmlns:r="http://schemas.openxmlformats.org/officeDocument/2006/relationships" id="263" r:id="R0189712979444a5d"/>
    <p:sldId xmlns:r="http://schemas.openxmlformats.org/officeDocument/2006/relationships" id="264" r:id="R4245b3324f8041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b905d5a3e4615" /><Relationship Type="http://schemas.openxmlformats.org/officeDocument/2006/relationships/slideMaster" Target="/ppt/slideMasters/slideMaster1.xml" Id="R9c8c136ccc564098" /><Relationship Type="http://schemas.openxmlformats.org/officeDocument/2006/relationships/notesMaster" Target="/ppt/notesMasters/notesMaster1.xml" Id="Rf32201fcdde649df" /><Relationship Type="http://schemas.openxmlformats.org/officeDocument/2006/relationships/presProps" Target="/ppt/presProps.xml" Id="R34ae6279f7ce4019" /><Relationship Type="http://schemas.openxmlformats.org/officeDocument/2006/relationships/tableStyles" Target="/ppt/tableStyles.xml" Id="R2135fadf5c204776" /><Relationship Type="http://schemas.openxmlformats.org/officeDocument/2006/relationships/slide" Target="/ppt/slides/slide1.xml" Id="R541ea0dd39ee4ac4" /><Relationship Type="http://schemas.openxmlformats.org/officeDocument/2006/relationships/slide" Target="/ppt/slides/slide2.xml" Id="R93ea807366bf453f" /><Relationship Type="http://schemas.openxmlformats.org/officeDocument/2006/relationships/slide" Target="/ppt/slides/slide3.xml" Id="R637c31bec01d40f0" /><Relationship Type="http://schemas.openxmlformats.org/officeDocument/2006/relationships/slide" Target="/ppt/slides/slide4.xml" Id="R696880750ed7407b" /><Relationship Type="http://schemas.openxmlformats.org/officeDocument/2006/relationships/slide" Target="/ppt/slides/slide5.xml" Id="Ref60d2e0037442f0" /><Relationship Type="http://schemas.openxmlformats.org/officeDocument/2006/relationships/slide" Target="/ppt/slides/slide6.xml" Id="Rc500c85add214f9d" /><Relationship Type="http://schemas.openxmlformats.org/officeDocument/2006/relationships/slide" Target="/ppt/slides/slide7.xml" Id="R1b2338ee2bf243ec" /><Relationship Type="http://schemas.openxmlformats.org/officeDocument/2006/relationships/slide" Target="/ppt/slides/slide8.xml" Id="R0189712979444a5d" /><Relationship Type="http://schemas.openxmlformats.org/officeDocument/2006/relationships/slide" Target="/ppt/slides/slide9.xml" Id="R4245b3324f8041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59abd3bacf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3215c96de243df" /><Relationship Type="http://schemas.openxmlformats.org/officeDocument/2006/relationships/notesMaster" Target="/ppt/notesMasters/notesMaster1.xml" Id="R0ff093eb4434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8fe3704254327" /><Relationship Type="http://schemas.openxmlformats.org/officeDocument/2006/relationships/notesMaster" Target="/ppt/notesMasters/notesMaster1.xml" Id="R57c3ba582530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b91874b65425f" /><Relationship Type="http://schemas.openxmlformats.org/officeDocument/2006/relationships/notesMaster" Target="/ppt/notesMasters/notesMaster1.xml" Id="R3328de47b6c442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391e424a77417b" /><Relationship Type="http://schemas.openxmlformats.org/officeDocument/2006/relationships/notesMaster" Target="/ppt/notesMasters/notesMaster1.xml" Id="R61f31028fa054e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5e08a316a4484" /><Relationship Type="http://schemas.openxmlformats.org/officeDocument/2006/relationships/notesMaster" Target="/ppt/notesMasters/notesMaster1.xml" Id="R9e6e395634314a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fa752483bf4130" /><Relationship Type="http://schemas.openxmlformats.org/officeDocument/2006/relationships/notesMaster" Target="/ppt/notesMasters/notesMaster1.xml" Id="R2d05604ba4a740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64864fe59d4fbe" /><Relationship Type="http://schemas.openxmlformats.org/officeDocument/2006/relationships/notesMaster" Target="/ppt/notesMasters/notesMaster1.xml" Id="Ra86440c578ec49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bb63a6b80145ed" /><Relationship Type="http://schemas.openxmlformats.org/officeDocument/2006/relationships/notesMaster" Target="/ppt/notesMasters/notesMaster1.xml" Id="R03042219cd40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e52c07a0864f3b" /><Relationship Type="http://schemas.openxmlformats.org/officeDocument/2006/relationships/notesMaster" Target="/ppt/notesMasters/notesMaster1.xml" Id="Rb67547ec4f5f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63c01c1b6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997f2313a48bf" /><Relationship Type="http://schemas.openxmlformats.org/officeDocument/2006/relationships/slideLayout" Target="/ppt/slideLayouts/slideLayout1.xml" Id="R3737bada0ac3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7bada0ac3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1ae69a53a4380" /><Relationship Type="http://schemas.openxmlformats.org/officeDocument/2006/relationships/notesSlide" Target="/ppt/notesSlides/notesSlide1.xml" Id="R2da40aa562054f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7e78e96354ebe" /><Relationship Type="http://schemas.openxmlformats.org/officeDocument/2006/relationships/notesSlide" Target="/ppt/notesSlides/notesSlide2.xml" Id="R7dec2605a88c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3e09e5bb3470b" /><Relationship Type="http://schemas.openxmlformats.org/officeDocument/2006/relationships/image" Target="/ppt/media/image.png" Id="Rcca691e865d74173" /><Relationship Type="http://schemas.openxmlformats.org/officeDocument/2006/relationships/notesSlide" Target="/ppt/notesSlides/notesSlide3.xml" Id="R563f1012b26443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2ef70b27548b6" /><Relationship Type="http://schemas.openxmlformats.org/officeDocument/2006/relationships/image" Target="/ppt/media/image2.png" Id="R38dff60a7ff94bc8" /><Relationship Type="http://schemas.openxmlformats.org/officeDocument/2006/relationships/notesSlide" Target="/ppt/notesSlides/notesSlide4.xml" Id="R3faedb38ffd6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98553206a43bd" /><Relationship Type="http://schemas.openxmlformats.org/officeDocument/2006/relationships/image" Target="/ppt/media/image3.png" Id="R0dd9e0807407411c" /><Relationship Type="http://schemas.openxmlformats.org/officeDocument/2006/relationships/notesSlide" Target="/ppt/notesSlides/notesSlide5.xml" Id="R230f31010c71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42349c4974212" /><Relationship Type="http://schemas.openxmlformats.org/officeDocument/2006/relationships/image" Target="/ppt/media/image4.png" Id="R6367076e1a134b3e" /><Relationship Type="http://schemas.openxmlformats.org/officeDocument/2006/relationships/notesSlide" Target="/ppt/notesSlides/notesSlide6.xml" Id="R915d1a136a1b42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3adf7adec4806" /><Relationship Type="http://schemas.openxmlformats.org/officeDocument/2006/relationships/image" Target="/ppt/media/image5.png" Id="R278a8c6bb4214df5" /><Relationship Type="http://schemas.openxmlformats.org/officeDocument/2006/relationships/notesSlide" Target="/ppt/notesSlides/notesSlide7.xml" Id="R11ed17eb61664b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da254f1894d95" /><Relationship Type="http://schemas.openxmlformats.org/officeDocument/2006/relationships/image" Target="/ppt/media/image6.png" Id="R5cdf0096d2c74e46" /><Relationship Type="http://schemas.openxmlformats.org/officeDocument/2006/relationships/notesSlide" Target="/ppt/notesSlides/notesSlide8.xml" Id="R7d867db59d434a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d2e68b3eb4687" /><Relationship Type="http://schemas.openxmlformats.org/officeDocument/2006/relationships/notesSlide" Target="/ppt/notesSlides/notesSlide9.xml" Id="Rc04f183a83d340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46962-4C7B-4A1E-95A2-38BEF83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D6991-68B0-48CA-89D5-3DD4F48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325C-A25E-4C0D-B872-3E067AEF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13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InsurMinds_Projeto_Final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4F408-39DE-47AF-805C-CA28825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DE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EE9"/>
                </a:solidFill>
                <a:latin typeface="Arial"/>
                <a:ea typeface="Arial"/>
                <a:cs typeface="Arial"/>
              </a:rPr>
              <a:t>Análise e comparação de apólices D&amp;O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25068-4BE5-4D44-AE1B-A6D1E096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8C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8C8"/>
                </a:solidFill>
                <a:latin typeface="Arial"/>
                <a:ea typeface="Arial"/>
                <a:cs typeface="Arial"/>
              </a:rPr>
              <a:t>OCR, IA Generativa configurável e revisão humana em um fluxo rastreável.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B8C78-A5C8-41E7-B3D2-C41627C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3219450" cy="4762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2031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394F6-BAE4-4A73-BCDA-5D1EEDB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B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DBD2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8893E-A7F8-4467-822A-311F7812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AEC6A-8A3A-4FA6-BDA9-069B379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80C15-017F-4868-9820-FCE90CB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apoiada por evidências extraídas das apólices.</a:t>
            </a:r>
          </a:p>
        </p:txBody>
      </p:sp>
    </p:spTree>
    <p:extLst>
      <p:ext uri="{BB962C8B-B14F-4D97-AF65-F5344CB8AC3E}">
        <p14:creationId xmlns:p14="http://schemas.microsoft.com/office/powerpoint/2010/main" val="1406141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6BF17-A4E6-4579-B36D-0BEF593F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ED4B-CD8F-4276-B2F8-0397252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D4714-97DE-4901-B258-1A8B7314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Finalidade e público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C592-F273-46D9-BA6E-D9D7EC1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0C0B0-198B-4648-8A88-A6DE2840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08846-1175-49C4-8416-066B1A0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O InsurMinds_Projeto_Final organiza documentos extensos em evidências comparáveis para profissionais que conhecem o negócio de seguros D&amp;O.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B21E8-F531-4333-ACC8-E821CEC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97450-E824-4BFC-B157-E34D442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DB0E7-45AC-4DE2-80D4-CCD984E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Leitura assistida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E7351-5621-4541-92F7-E397053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Extrai texto, identifica campos e preserva o vínculo com o documento.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BFD2A-FBED-45DE-A122-8A15C19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B99CA-8D62-4729-8A64-296D7F79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A0D42-A034-42FA-B388-33307BB1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Comparação de negócio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C9AF-A162-4128-8F53-191D5B5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Confronta limites, franquias, vigência, coberturas e exclusões.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A4447-70C8-4B31-ACE2-C514D68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7C0B3-6656-44F7-AB6E-AF87F29B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C90BC-0D62-42AB-8063-AF81958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Revisão responsável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6F9CF-A4F7-4B33-ABAE-AA85D24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340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Mostra ausências e diferenças para validação do especialista.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2DCA8-3055-4AA8-9681-49BE311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Corretores, subscritores, analistas de riscos e assessoria jurídica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CB294-59DE-4C45-8024-4BAAC16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 sistema apoia a análise. A decisão final permanece humana.</a:t>
            </a:r>
          </a:p>
        </p:txBody>
      </p:sp>
    </p:spTree>
    <p:extLst>
      <p:ext uri="{BB962C8B-B14F-4D97-AF65-F5344CB8AC3E}">
        <p14:creationId xmlns:p14="http://schemas.microsoft.com/office/powerpoint/2010/main" val="1574765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74D7A-D9AA-4929-B7CA-3BA110EF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50F12-DA41-48F6-BC2E-908E5533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26870-64BB-4979-AFF9-B0EC3D5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Fluxo e objetos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953EA-9EFD-4982-979F-C2DC08A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7A72F-5D3C-4FBA-B16E-1ED89BA6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691e865d74173"/>
          <a:stretch xmlns:a="http://schemas.openxmlformats.org/drawingml/2006/main"/>
        </p:blipFill>
        <p:spPr>
          <a:xfrm xmlns:a="http://schemas.openxmlformats.org/drawingml/2006/main">
            <a:off x="1904817" y="1428750"/>
            <a:ext cx="832521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72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EA11F-B47D-4EED-B7E6-9C242DD7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FAB14-8943-4DC2-A689-176CFFCC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8FC3-9D91-48BC-861A-D3664554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Importação de uma apólice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D101A-4363-4875-BCE3-EFF7372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A1594-EDC8-4FF2-B9EA-6A1E223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ff60a7ff94bc8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66850"/>
            <a:ext cx="7334250" cy="412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64385-2C2B-4733-AB5D-B94AE9B5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Arquivo aceito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2E56C-58CF-49B6-BCE6-0D9845BB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PDF, PNG, JPG ou TIF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456BD-D8F6-48A6-AEEC-C4E25EBC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3A644-3D04-41E8-8579-0A96FC0B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Um nome já existente substitui integralmente a versão anterior e os dados relacionados.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E62A8-4741-4F17-81C1-602D7823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A execução registra cada etapa e o objeto Python responsável.</a:t>
            </a:r>
          </a:p>
        </p:txBody>
      </p:sp>
    </p:spTree>
    <p:extLst>
      <p:ext uri="{BB962C8B-B14F-4D97-AF65-F5344CB8AC3E}">
        <p14:creationId xmlns:p14="http://schemas.microsoft.com/office/powerpoint/2010/main" val="1064408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61045-B468-4CB4-9EAB-1103A6FA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9136C-E79A-4E1D-A86D-90CE6A0E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D3EF9-E6A0-4611-9836-E64433D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Gestão das apólices importadas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5158E-664E-43AE-845C-8029D4DB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518CD-7B11-4383-A90D-92DA9F2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9e080740741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42875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F7A3-7FA7-4906-83B6-9850BE11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 base mostra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5C4C6-D753-48AE-8CE2-CE7631FF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571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arquivo</a:t>
            </a:r>
          </a:p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número da apólice</a:t>
            </a:r>
          </a:p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seguradora</a:t>
            </a:r>
          </a:p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segurado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D0F55-BBFA-443E-A917-D4F593C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478F0-408E-49BC-B7AE-C242E77B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 exclusão seletiva remove o documento e seus registros relacionados.</a:t>
            </a:r>
          </a:p>
        </p:txBody>
      </p:sp>
    </p:spTree>
    <p:extLst>
      <p:ext uri="{BB962C8B-B14F-4D97-AF65-F5344CB8AC3E}">
        <p14:creationId xmlns:p14="http://schemas.microsoft.com/office/powerpoint/2010/main" val="1303368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874C3-849F-489A-B617-2B513972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34C8F-5F28-42C9-8320-3B899E75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FBBC9-4F53-4F14-8507-D758BE2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Modos de comparação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8039C-F5D9-4B74-B335-A0C442D9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FB2FF-0284-4BA6-8813-B042252E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7076e1a134b3e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42875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B6478-CE4C-4395-93B4-46DDB3A0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 Completa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060F9-7EE6-4AE2-892B-B844F2A7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Compara o conjunto integral de informações estruturadas.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2FBD8-9D76-481A-8852-82187922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4B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B4B"/>
                </a:solidFill>
                <a:latin typeface="Arial"/>
                <a:ea typeface="Arial"/>
                <a:cs typeface="Arial"/>
              </a:rPr>
              <a:t>R Relevante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63057-5835-4F24-9DF3-713BC997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Exige ao menos um ponto. O usuário escolhe critérios parametrizados e pesos editáveis.</a:t>
            </a:r>
          </a:p>
        </p:txBody>
      </p:sp>
    </p:spTree>
    <p:extLst>
      <p:ext uri="{BB962C8B-B14F-4D97-AF65-F5344CB8AC3E}">
        <p14:creationId xmlns:p14="http://schemas.microsoft.com/office/powerpoint/2010/main" val="1468724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A7C28-B7BC-46CA-BA5B-EE25D214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2889D-539A-4D47-BB6A-5AE1C3C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0251F-C221-4E2C-8B93-2DCFC3E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Rastreabilidade da execução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6FA0-E622-48C1-9DBC-537EFB9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25A3C-AFB6-4D98-9301-BA9E67B3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a8c6bb4214df5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09700"/>
            <a:ext cx="75247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DEA40-37ED-4EEA-BCD1-21A24782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Exemplo de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D6A00-39E4-466B-B920-F37BB29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[ServicoComparacaoApolices.</a:t>
            </a:r>
          </a:p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comparar]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46B79-1B65-4E6B-AF1A-91C04CE0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Cada mensagem identifica claramente a classe ou função que executa a etapa.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DD4A0-B39E-4C6C-B76E-AEC70DCF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O mesmo padrão aparece na importação e na geração do relatório.</a:t>
            </a:r>
          </a:p>
        </p:txBody>
      </p:sp>
    </p:spTree>
    <p:extLst>
      <p:ext uri="{BB962C8B-B14F-4D97-AF65-F5344CB8AC3E}">
        <p14:creationId xmlns:p14="http://schemas.microsoft.com/office/powerpoint/2010/main" val="1482994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BCB02-CFF1-4B9D-AA89-3C19C580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3AC29-BF22-4A05-9985-5610CDF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A092B-9CD1-489B-9B1E-78CE7021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Parecer e quadro comparativo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06F5A-3422-4BFB-ABAC-6DC52843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9E128-2F81-4E69-85F5-76F04C5C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f0096d2c74e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81125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67786-EBF6-4EDA-9B17-29AF615A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Leitura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3EDAA-6C96-4E30-AC5F-DD99F322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 cores distinguem equivalência, diferença, ausência e critério não encontrado.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9CDFF-1ADB-4B66-BD39-F6788476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Parecer ponderado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73105-878B-4A42-9FE3-98B756A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Os pesos configuráveis orientam a conclusão sobre equivalência ou vantagem relativa.</a:t>
            </a:r>
          </a:p>
        </p:txBody>
      </p:sp>
    </p:spTree>
    <p:extLst>
      <p:ext uri="{BB962C8B-B14F-4D97-AF65-F5344CB8AC3E}">
        <p14:creationId xmlns:p14="http://schemas.microsoft.com/office/powerpoint/2010/main" val="463982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5ABE6-8119-404D-B590-D5F491F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DB63D-ADFD-412A-BFCE-4296FFC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9F734-E17F-48E6-868B-90C90A19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Saídas e uso responsável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299FE-764B-46A1-B13A-2B92DF6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163D1-3C49-4A07-B4C4-EA5E0E47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5A7E4-7E9C-47A7-B3B3-E8A9CD6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Relatório executivo em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50F3C-190A-4C12-9DDE-6E77FB22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Apresenta as apólices, critérios selecionados, classificação por cor e parecer em linguagem de seguros.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AE046-0C54-4CEC-A78B-C4B1D869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62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57226-2B38-4BC1-9C0D-1B9B8E0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Configuração aberta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3ED18-6C99-4428-948E-63F9E9B9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 arquivo pontos_relevantes.json permite acrescentar critérios e ajustar pesos sem alterar a regra de comparação.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B5354-BB01-4E1C-8D9F-7B441C73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381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3CB51-CA4F-4C86-813A-9AFBE86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4B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4B4B"/>
                </a:solidFill>
                <a:latin typeface="Arial"/>
                <a:ea typeface="Arial"/>
                <a:cs typeface="Arial"/>
              </a:rPr>
              <a:t>Revisão humana obrigatória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764D3-ED84-41B3-88AB-6FFF4824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200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OCR e modelos de linguagem podem interpretar campos de modo incompleto. O especialista valida evidências, contexto e decisão final.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88D82-1C1D-4955-84E5-8DC6ACDD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  |  InsurMinds_Projeto_Final</a:t>
            </a:r>
          </a:p>
        </p:txBody>
      </p:sp>
    </p:spTree>
    <p:extLst>
      <p:ext uri="{BB962C8B-B14F-4D97-AF65-F5344CB8AC3E}">
        <p14:creationId xmlns:p14="http://schemas.microsoft.com/office/powerpoint/2010/main" val="255395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2026-09-30T18:10:23.2130000Z</dcterms:created>
  <dcterms:modified xsi:type="dcterms:W3CDTF">2026-09-30T18:10:23.2130000Z</dcterms:modified>
</coreProperties>
</file>