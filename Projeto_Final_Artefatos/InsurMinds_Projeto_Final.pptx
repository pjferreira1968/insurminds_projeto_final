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9e83ebed3e44fe" /><Relationship Type="http://schemas.openxmlformats.org/officeDocument/2006/relationships/extended-properties" Target="/docProps/app.xml" Id="Rc30fee687bee456b" /><Relationship Type="http://schemas.openxmlformats.org/officeDocument/2006/relationships/officeDocument" Target="/ppt/presentation.xml" Id="Rc9994bec7b2c4a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aaf94e397f42bb"/>
  </p:sldMasterIdLst>
  <p:notesMasterIdLst>
    <p:notesMasterId xmlns:r="http://schemas.openxmlformats.org/officeDocument/2006/relationships" r:id="Re8a711538dc54117"/>
  </p:notesMasterIdLst>
  <p:sldIdLst>
    <p:sldId xmlns:r="http://schemas.openxmlformats.org/officeDocument/2006/relationships" id="256" r:id="R66806bc2210e4943"/>
    <p:sldId xmlns:r="http://schemas.openxmlformats.org/officeDocument/2006/relationships" id="257" r:id="Ra86d5c20571549a1"/>
    <p:sldId xmlns:r="http://schemas.openxmlformats.org/officeDocument/2006/relationships" id="258" r:id="Rbee68966481b4393"/>
    <p:sldId xmlns:r="http://schemas.openxmlformats.org/officeDocument/2006/relationships" id="259" r:id="R2c47a34fec114906"/>
    <p:sldId xmlns:r="http://schemas.openxmlformats.org/officeDocument/2006/relationships" id="260" r:id="Rb964af62633f435d"/>
    <p:sldId xmlns:r="http://schemas.openxmlformats.org/officeDocument/2006/relationships" id="261" r:id="R07446efec51a49de"/>
    <p:sldId xmlns:r="http://schemas.openxmlformats.org/officeDocument/2006/relationships" id="262" r:id="Rc431e96a69164dd9"/>
    <p:sldId xmlns:r="http://schemas.openxmlformats.org/officeDocument/2006/relationships" id="263" r:id="R4c161c64aeab45bb"/>
    <p:sldId xmlns:r="http://schemas.openxmlformats.org/officeDocument/2006/relationships" id="264" r:id="R9f95e62ef7544e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cf3577d27d4ca6" /><Relationship Type="http://schemas.openxmlformats.org/officeDocument/2006/relationships/slideMaster" Target="/ppt/slideMasters/slideMaster1.xml" Id="R2daaf94e397f42bb" /><Relationship Type="http://schemas.openxmlformats.org/officeDocument/2006/relationships/notesMaster" Target="/ppt/notesMasters/notesMaster1.xml" Id="Re8a711538dc54117" /><Relationship Type="http://schemas.openxmlformats.org/officeDocument/2006/relationships/presProps" Target="/ppt/presProps.xml" Id="Rf18f915ccde248c2" /><Relationship Type="http://schemas.openxmlformats.org/officeDocument/2006/relationships/tableStyles" Target="/ppt/tableStyles.xml" Id="R7f7314dff7e94ce4" /><Relationship Type="http://schemas.openxmlformats.org/officeDocument/2006/relationships/slide" Target="/ppt/slides/slide1.xml" Id="R66806bc2210e4943" /><Relationship Type="http://schemas.openxmlformats.org/officeDocument/2006/relationships/slide" Target="/ppt/slides/slide2.xml" Id="Ra86d5c20571549a1" /><Relationship Type="http://schemas.openxmlformats.org/officeDocument/2006/relationships/slide" Target="/ppt/slides/slide3.xml" Id="Rbee68966481b4393" /><Relationship Type="http://schemas.openxmlformats.org/officeDocument/2006/relationships/slide" Target="/ppt/slides/slide4.xml" Id="R2c47a34fec114906" /><Relationship Type="http://schemas.openxmlformats.org/officeDocument/2006/relationships/slide" Target="/ppt/slides/slide5.xml" Id="Rb964af62633f435d" /><Relationship Type="http://schemas.openxmlformats.org/officeDocument/2006/relationships/slide" Target="/ppt/slides/slide6.xml" Id="R07446efec51a49de" /><Relationship Type="http://schemas.openxmlformats.org/officeDocument/2006/relationships/slide" Target="/ppt/slides/slide7.xml" Id="Rc431e96a69164dd9" /><Relationship Type="http://schemas.openxmlformats.org/officeDocument/2006/relationships/slide" Target="/ppt/slides/slide8.xml" Id="R4c161c64aeab45bb" /><Relationship Type="http://schemas.openxmlformats.org/officeDocument/2006/relationships/slide" Target="/ppt/slides/slide9.xml" Id="R9f95e62ef7544e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d5ec8ddb9d4b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4f2b6f0bf44e5c" /><Relationship Type="http://schemas.openxmlformats.org/officeDocument/2006/relationships/notesMaster" Target="/ppt/notesMasters/notesMaster1.xml" Id="Rad3b6e82ef524d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01e72cf7a34309" /><Relationship Type="http://schemas.openxmlformats.org/officeDocument/2006/relationships/notesMaster" Target="/ppt/notesMasters/notesMaster1.xml" Id="R8dad87325f414e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282b5e2625f415e" /><Relationship Type="http://schemas.openxmlformats.org/officeDocument/2006/relationships/notesMaster" Target="/ppt/notesMasters/notesMaster1.xml" Id="R360d24a0c94147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69cc2b9fe941ec" /><Relationship Type="http://schemas.openxmlformats.org/officeDocument/2006/relationships/notesMaster" Target="/ppt/notesMasters/notesMaster1.xml" Id="Reedfe0ee2716419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41bf91066c4237" /><Relationship Type="http://schemas.openxmlformats.org/officeDocument/2006/relationships/notesMaster" Target="/ppt/notesMasters/notesMaster1.xml" Id="R0aaf951d075b49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b885c4164e74c1a" /><Relationship Type="http://schemas.openxmlformats.org/officeDocument/2006/relationships/notesMaster" Target="/ppt/notesMasters/notesMaster1.xml" Id="Rc7e32a209b9145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52d5d148c44d50" /><Relationship Type="http://schemas.openxmlformats.org/officeDocument/2006/relationships/notesMaster" Target="/ppt/notesMasters/notesMaster1.xml" Id="R12ba56dc5d6d405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ca23d3ebbf452f" /><Relationship Type="http://schemas.openxmlformats.org/officeDocument/2006/relationships/notesMaster" Target="/ppt/notesMasters/notesMaster1.xml" Id="Rb66098278eb44d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9c3f9c29a24cfd" /><Relationship Type="http://schemas.openxmlformats.org/officeDocument/2006/relationships/notesMaster" Target="/ppt/notesMasters/notesMaster1.xml" Id="Reeaf2a7a0ae14b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bd9b732022480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005b3af41c4963" /><Relationship Type="http://schemas.openxmlformats.org/officeDocument/2006/relationships/slideLayout" Target="/ppt/slideLayouts/slideLayout1.xml" Id="Rde55f8dc80a84c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55f8dc80a84c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0b533d6b284330" /><Relationship Type="http://schemas.openxmlformats.org/officeDocument/2006/relationships/notesSlide" Target="/ppt/notesSlides/notesSlide1.xml" Id="R6d122aa3b2f14e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f721af452413c" /><Relationship Type="http://schemas.openxmlformats.org/officeDocument/2006/relationships/notesSlide" Target="/ppt/notesSlides/notesSlide2.xml" Id="R658dfc9f9a2f46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7351d089e491b" /><Relationship Type="http://schemas.openxmlformats.org/officeDocument/2006/relationships/image" Target="/ppt/media/image.png" Id="R772f820222cd40a5" /><Relationship Type="http://schemas.openxmlformats.org/officeDocument/2006/relationships/notesSlide" Target="/ppt/notesSlides/notesSlide3.xml" Id="Rc356e766f0c947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8d0b8ed8154fb6" /><Relationship Type="http://schemas.openxmlformats.org/officeDocument/2006/relationships/image" Target="/ppt/media/image2.png" Id="Rf9c8e08e3c1040be" /><Relationship Type="http://schemas.openxmlformats.org/officeDocument/2006/relationships/notesSlide" Target="/ppt/notesSlides/notesSlide4.xml" Id="Re1f0d1d0245d41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b8b3d830844fa" /><Relationship Type="http://schemas.openxmlformats.org/officeDocument/2006/relationships/image" Target="/ppt/media/image3.png" Id="R2d01f56ae4b240d8" /><Relationship Type="http://schemas.openxmlformats.org/officeDocument/2006/relationships/notesSlide" Target="/ppt/notesSlides/notesSlide5.xml" Id="R3bc30fa6cc3441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a8746fa284b8b" /><Relationship Type="http://schemas.openxmlformats.org/officeDocument/2006/relationships/image" Target="/ppt/media/image4.png" Id="R074ad03778634075" /><Relationship Type="http://schemas.openxmlformats.org/officeDocument/2006/relationships/notesSlide" Target="/ppt/notesSlides/notesSlide6.xml" Id="Rc01b73d857ca485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90f81148c43fb" /><Relationship Type="http://schemas.openxmlformats.org/officeDocument/2006/relationships/image" Target="/ppt/media/image5.png" Id="R5e6aee4b4e154542" /><Relationship Type="http://schemas.openxmlformats.org/officeDocument/2006/relationships/notesSlide" Target="/ppt/notesSlides/notesSlide7.xml" Id="R24c627a0ccb945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ac0a5ad16425b" /><Relationship Type="http://schemas.openxmlformats.org/officeDocument/2006/relationships/image" Target="/ppt/media/image6.png" Id="Rcb4eb2b0a1a44fbe" /><Relationship Type="http://schemas.openxmlformats.org/officeDocument/2006/relationships/notesSlide" Target="/ppt/notesSlides/notesSlide8.xml" Id="Rac56ffeff8e342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c8c3438f674814" /><Relationship Type="http://schemas.openxmlformats.org/officeDocument/2006/relationships/notesSlide" Target="/ppt/notesSlides/notesSlide9.xml" Id="R858fe43dfa5141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A3391-92F9-4868-AF6E-130A07D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4EEDC-F0B9-4694-A0B9-1E4C256F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FD1C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4FD1C5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1116E-9CD5-4082-92E3-8B542EE2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628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PfCompara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C2DA9-5E39-4986-A910-CE38F266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685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7DE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D7DEE9"/>
                </a:solidFill>
                <a:latin typeface="Arial"/>
                <a:ea typeface="Arial"/>
                <a:cs typeface="Arial"/>
              </a:rPr>
              <a:t>Análise e comparação de apólices D&amp;O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57478-2DD3-4FCD-913D-15A5959F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EB8C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B8C8"/>
                </a:solidFill>
                <a:latin typeface="Arial"/>
                <a:ea typeface="Arial"/>
                <a:cs typeface="Arial"/>
              </a:rPr>
              <a:t>OCR, IA Generativa configurável e revisão humana em um fluxo rastreável.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325ADC-DA08-4000-97B2-BB272F98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28700"/>
            <a:ext cx="3219450" cy="476250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20314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2327B-E13A-4EA2-8FF2-EB8647A7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383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8EDBD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EDBD2"/>
                </a:solidFill>
                <a:latin typeface="Arial"/>
                <a:ea typeface="Arial"/>
                <a:cs typeface="Arial"/>
              </a:rPr>
              <a:t>Produto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BF3D33-E3D8-4F96-BBB7-CD56A4CC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9550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4C93A-DCFF-45EC-BE53-F58AAE6C0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2076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D3CF82-C006-43E2-AFFE-98410B46B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19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Decisão apoiada por evidências extraídas das apólices.</a:t>
            </a:r>
          </a:p>
        </p:txBody>
      </p:sp>
    </p:spTree>
    <p:extLst>
      <p:ext uri="{BB962C8B-B14F-4D97-AF65-F5344CB8AC3E}">
        <p14:creationId xmlns:p14="http://schemas.microsoft.com/office/powerpoint/2010/main" val="939617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F17DEE-5788-4834-971A-4EA5AD7B8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EF4DD2-AF65-40CE-9897-6A9A92E3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F6A14-E4C2-40A1-970F-49B21C2B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Finalidade e público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9A2D7-0133-4574-871A-17BB2B98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A7413-B1E3-489E-B9C3-359A17DA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6124D-DE88-4FE1-A8A9-CFC4F4A9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O PfCompara organiza documentos extensos em evidências comparáveis para profissionais que conhecem o negócio de seguros D&amp;O.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39D41-AB91-4239-906B-B724FA16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D9CC0-1848-4D64-8017-A79A7E10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A36AD-974A-4557-94BF-84B9C968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051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Leitura assistida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5F6A3-04DA-4FFF-AA0B-D04BF804A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Extrai texto, identifica campos e preserva o vínculo com o documento.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B7A34-3040-4955-8032-7008C80C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B6CB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EA30E0-66F1-4FA0-AC9D-C0A152D4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A8D39-E7C6-4C3B-BAB3-8A5D5D35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671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Comparação de negócio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CF63D-F3BE-49A3-93EA-DEC85BA2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7195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Confronta limites, franquias, vigência, coberturas e exclusões.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E3523-5472-444D-903A-46FB77D2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478A5-F4EA-42BE-98DF-584D77F5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3B0585-9909-464D-910C-9D061370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292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Revisão responsável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E9E0A-C083-43F9-88AC-E0660578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3340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Mostra ausências e diferenças para validação do especialista.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8599BE-AB02-42E5-AD07-1B6FF660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Corretores, subscritores, analistas de riscos e assessoria jurídica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FC5A1C-1DBD-4EBD-B13A-132FBA9C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191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 sistema apoia a análise. A decisão final permanece humana.</a:t>
            </a:r>
          </a:p>
        </p:txBody>
      </p:sp>
    </p:spTree>
    <p:extLst>
      <p:ext uri="{BB962C8B-B14F-4D97-AF65-F5344CB8AC3E}">
        <p14:creationId xmlns:p14="http://schemas.microsoft.com/office/powerpoint/2010/main" val="6080555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2F712-5D45-4DEC-8EF6-22F76AFB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F2A75-A086-4235-9176-24715E42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6BE43-4F74-48F9-87AC-1CAC0FCD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Fluxo e objetos Python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E8276-BAE7-481D-BAF9-20AEEDB4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1E9CCE-65DF-4586-A999-C82FAF7B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2f820222cd40a5"/>
          <a:stretch xmlns:a="http://schemas.openxmlformats.org/drawingml/2006/main"/>
        </p:blipFill>
        <p:spPr>
          <a:xfrm xmlns:a="http://schemas.openxmlformats.org/drawingml/2006/main">
            <a:off x="1904817" y="1428750"/>
            <a:ext cx="8325216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819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EFF2F1-A6BA-43C4-BF5C-349284DA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1A4AD-361F-4D27-BB7B-20C2EDC9E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68DB6E-B1E8-4FC9-8405-F3ACB45C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Importação de uma apólice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5D1B31-26C5-42FC-97AF-EB657469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76589-A2BA-4F23-8049-9734968A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8e08e3c1040be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66850"/>
            <a:ext cx="7334250" cy="41243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F6A74-D305-4D66-9E1C-DAA51325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695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Arquivo aceito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05997-E1E6-43BD-AC72-A248094D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PDF, PNG, JPG ou TIF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FF239-008B-47D1-8B64-64B19EA2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543D1-5116-4693-953B-EE4E3D72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67050"/>
            <a:ext cx="2857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Um nome já existente substitui integralmente a versão anterior e os dados relacionados.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3A950B-EF87-4AED-8643-597DBD60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6863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A execução registra cada etapa e o objeto Python responsável.</a:t>
            </a:r>
          </a:p>
        </p:txBody>
      </p:sp>
    </p:spTree>
    <p:extLst>
      <p:ext uri="{BB962C8B-B14F-4D97-AF65-F5344CB8AC3E}">
        <p14:creationId xmlns:p14="http://schemas.microsoft.com/office/powerpoint/2010/main" val="12431340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4C9F4-FF6B-423E-AE2E-DA4DD714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FAFD3-B4DF-4428-97C8-FC0DB26C7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8DAFD6-ADAD-4C0D-A30A-867C1F4A9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Gestão das apólices importadas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ED4C4-1221-4EB6-BAF5-963C919B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8EB0F-9E0D-49C0-BA33-465C457F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1f56ae4b240d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42875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6516E4-B072-434C-B6E3-ECA7C186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81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A base mostra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656ADE-3D30-4B5A-9CB3-6939DA72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038350"/>
            <a:ext cx="2571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arquivo</a:t>
            </a:r>
          </a:p>
          <a:p xmlns:a="http://schemas.openxmlformats.org/drawingml/2006/main">
            <a:pPr algn="l">
              <a:defRPr sz="157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número da apólice</a:t>
            </a:r>
          </a:p>
          <a:p xmlns:a="http://schemas.openxmlformats.org/drawingml/2006/main">
            <a:pPr algn="l">
              <a:defRPr sz="157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seguradora</a:t>
            </a:r>
          </a:p>
          <a:p xmlns:a="http://schemas.openxmlformats.org/drawingml/2006/main">
            <a:pPr algn="l">
              <a:defRPr sz="157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segurado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76A63-BC7A-4870-93C4-0F731D5F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481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74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8F2D3C-1F8A-44B1-BAA0-57A5AADE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14800"/>
            <a:ext cx="2476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 exclusão seletiva remove o documento e seus registros relacionados.</a:t>
            </a:r>
          </a:p>
        </p:txBody>
      </p:sp>
    </p:spTree>
    <p:extLst>
      <p:ext uri="{BB962C8B-B14F-4D97-AF65-F5344CB8AC3E}">
        <p14:creationId xmlns:p14="http://schemas.microsoft.com/office/powerpoint/2010/main" val="10193522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DE613B-7A33-4F86-AAE1-481F2E35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3EF65-72F4-4C67-B66E-F743CE3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AD1BEA-AC83-45D2-ACA8-B4C08701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Modos de comparação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75EABB-9820-4702-B719-970182A3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42319-11D6-41F4-A232-2537920A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4ad03778634075"/>
          <a:srcRect xmlns:a="http://schemas.openxmlformats.org/drawingml/2006/main" l="58" t="0" r="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" y="1428750"/>
            <a:ext cx="7239000" cy="4076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C5A60-8BCE-4765-B734-3C47330F1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383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C Completa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D97DD-90C8-481D-9A4F-B4270F31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5740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Compara o conjunto integral de informações estruturadas.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5C3E5-4AA6-4432-868F-2E2124ED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575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4B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4B4B"/>
                </a:solidFill>
                <a:latin typeface="Arial"/>
                <a:ea typeface="Arial"/>
                <a:cs typeface="Arial"/>
              </a:rPr>
              <a:t>R Relevante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2EF15-F91A-497A-B745-6B655D5F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766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Exige ao menos um ponto. O usuário escolhe critérios parametrizados e pesos editáveis.</a:t>
            </a:r>
          </a:p>
        </p:txBody>
      </p:sp>
    </p:spTree>
    <p:extLst>
      <p:ext uri="{BB962C8B-B14F-4D97-AF65-F5344CB8AC3E}">
        <p14:creationId xmlns:p14="http://schemas.microsoft.com/office/powerpoint/2010/main" val="1437332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52046E-E4E1-4839-9AE8-40E06E42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CA6762-5711-4112-AA5C-585A4B83D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6DC68-33CA-44A4-8B51-D6C9FE10F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Rastreabilidade da execução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C52BC-8E80-4726-832D-284C3251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B735C-32AE-4575-9AF3-80B51558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aee4b4e154542"/>
          <a:srcRect xmlns:a="http://schemas.openxmlformats.org/drawingml/2006/main" l="0" t="42" r="0" b="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409700"/>
            <a:ext cx="75247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2DC9C-31A4-475F-BEB5-5446F4A3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7640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Exemplo de 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F0B5A-1B35-4448-9C52-FD324CF0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09800"/>
            <a:ext cx="285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[ServicoComparacaoApolices.</a:t>
            </a:r>
          </a:p>
          <a:p xmlns:a="http://schemas.openxmlformats.org/drawingml/2006/main">
            <a:pPr algn="l">
              <a:defRPr sz="1275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comparar]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A2DE6-2056-44B4-A76E-E353864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62300"/>
            <a:ext cx="276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Cada mensagem identifica claramente a classe ou função que executa a etapa.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4039CB-24B3-477D-A003-23B52ED3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572000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O mesmo padrão aparece na importação e na geração do relatório.</a:t>
            </a:r>
          </a:p>
        </p:txBody>
      </p:sp>
    </p:spTree>
    <p:extLst>
      <p:ext uri="{BB962C8B-B14F-4D97-AF65-F5344CB8AC3E}">
        <p14:creationId xmlns:p14="http://schemas.microsoft.com/office/powerpoint/2010/main" val="7782444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8972B5-983A-4E0A-A2D5-C5E444FC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A41DB1-6380-4CC3-80C9-E7070E0A3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80AC7B-89F5-4722-AFE9-32001AD1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Parecer e quadro comparativo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FAB200-DF54-4319-81D0-22178B1F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44C37-04F0-4FD2-973C-9310B812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eb2b0a1a44fb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381125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1E2264-2BE6-429A-8B15-DDB79C3B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6192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Leitura visual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53DF3-E37F-428A-A326-12B88DDDA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266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As cores distinguem equivalência, diferença, ausência e critério não encontrado.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1E8D0-76DD-4D8F-9EB8-FA913546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6CB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B6CB0"/>
                </a:solidFill>
                <a:latin typeface="Arial"/>
                <a:ea typeface="Arial"/>
                <a:cs typeface="Arial"/>
              </a:rPr>
              <a:t>Parecer ponderado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6B6C0-BF5D-4CD4-9FF7-668AB44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943350"/>
            <a:ext cx="2667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Os pesos configuráveis orientam a conclusão sobre equivalência ou vantagem relativa.</a:t>
            </a:r>
          </a:p>
        </p:txBody>
      </p:sp>
    </p:spTree>
    <p:extLst>
      <p:ext uri="{BB962C8B-B14F-4D97-AF65-F5344CB8AC3E}">
        <p14:creationId xmlns:p14="http://schemas.microsoft.com/office/powerpoint/2010/main" val="19820101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F3699-3EFD-48D4-A932-63AE75EE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96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2FB12A-0B00-4586-B7D1-8BC7764B7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3CF2F3-F58B-4563-8A50-C091FA10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05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Saídas e uso responsável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8B6B9-8160-4B37-9FA0-0EC62A0F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11068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F1F90-7083-4236-A385-B4D17C11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B6906-5C6C-4054-B900-CCB1EBC2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33B"/>
                </a:solidFill>
                <a:latin typeface="Arial"/>
                <a:ea typeface="Arial"/>
                <a:cs typeface="Arial"/>
              </a:rPr>
              <a:t>Relatório executivo em PDF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09810-EDCA-4F4D-9E73-67173737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Apresenta as apólices, critérios selecionados, classificação por cor e parecer em linguagem de seguros.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0B52A1-4742-4D9D-BFE9-F8C36C87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462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4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CD93F-B228-4B63-81CB-E58E279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Configuração aberta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62DF4-8026-4D48-961C-019CDF26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4857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O arquivo pontos_relevantes.json permite acrescentar critérios e ajustar pesos sem alterar a regra de comparação.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BCAA6-FDE1-4189-BFA7-03D7344E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76400"/>
            <a:ext cx="4381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F4B386-9AA5-4C65-82C5-2C6BBEC74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48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4B4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4B4B"/>
                </a:solidFill>
                <a:latin typeface="Arial"/>
                <a:ea typeface="Arial"/>
                <a:cs typeface="Arial"/>
              </a:rPr>
              <a:t>Revisão humana obrigatória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E3F387-00BE-4350-ADD3-1EFAD5E8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14650"/>
            <a:ext cx="32004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33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33B"/>
                </a:solidFill>
                <a:latin typeface="Arial"/>
                <a:ea typeface="Arial"/>
                <a:cs typeface="Arial"/>
              </a:rPr>
              <a:t>OCR e modelos de linguagem podem interpretar campos de modo incompleto. O especialista valida evidências, contexto e decisão final.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16202-508C-4260-A92B-7A646948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6388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79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96B"/>
                </a:solidFill>
                <a:latin typeface="Arial"/>
                <a:ea typeface="Arial"/>
                <a:cs typeface="Arial"/>
              </a:rPr>
              <a:t>IA4Seg  |  PfCompara</a:t>
            </a:r>
          </a:p>
        </p:txBody>
      </p:sp>
    </p:spTree>
    <p:extLst>
      <p:ext uri="{BB962C8B-B14F-4D97-AF65-F5344CB8AC3E}">
        <p14:creationId xmlns:p14="http://schemas.microsoft.com/office/powerpoint/2010/main" val="11429990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2026-09-29T18:26:26.3670000Z</dcterms:created>
  <dcterms:modified xsi:type="dcterms:W3CDTF">2026-09-29T18:26:26.3670000Z</dcterms:modified>
</coreProperties>
</file>